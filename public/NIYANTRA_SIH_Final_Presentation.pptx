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548640"/>
          </a:xfrm>
          <a:prstGeom prst="roundRect">
            <a:avLst/>
          </a:prstGeom>
          <a:solidFill>
            <a:srgbClr val="0B1329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SMART INDIA HACKATHON 2025 — FINALS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Arial"/>
              </a:defRPr>
            </a:pPr>
            <a:r>
              <a:t>NIYANTRA (नियंत्रण)</a:t>
            </a:r>
          </a:p>
          <a:p>
            <a:pPr algn="l">
              <a:defRPr sz="1250" b="1">
                <a:solidFill>
                  <a:srgbClr val="00D2FF"/>
                </a:solidFill>
                <a:latin typeface="Arial"/>
              </a:defRPr>
            </a:pPr>
            <a:r>
              <a:t>National Inspection, Yield Audit &amp; Networked Telemetry for Regulatory Admissibility</a:t>
            </a:r>
          </a:p>
          <a:p>
            <a:pPr algn="l">
              <a:defRPr sz="1000">
                <a:solidFill>
                  <a:srgbClr val="94A3B8"/>
                </a:solidFill>
                <a:latin typeface="Arial"/>
              </a:defRPr>
            </a:pPr>
            <a:r>
              <a:t>An AI-Powered Geo-Surveillance, Biometric FRS &amp; Forensic Decision Support Platform</a:t>
            </a:r>
            <a:br/>
            <a:r>
              <a:t>Ministry of Social Justice &amp; Empowerment (DoSJE), Government of India</a:t>
            </a:r>
          </a:p>
        </p:txBody>
      </p:sp>
      <p:pic>
        <p:nvPicPr>
          <p:cNvPr id="5" name="Picture 4" descr="1 main logo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60120"/>
            <a:ext cx="256032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3108960"/>
            <a:ext cx="5486400" cy="31089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📋 Official SIH Metadata</a:t>
            </a:r>
          </a:p>
          <a:p>
            <a:pPr algn="l">
              <a:spcAft>
                <a:spcPts val="400"/>
              </a:spcAft>
            </a:pPr>
            <a:r>
              <a:rPr b="1" sz="919">
                <a:solidFill>
                  <a:srgbClr val="FBBF24"/>
                </a:solidFill>
                <a:latin typeface="Arial"/>
              </a:rPr>
              <a:t>• Problem Statement ID: </a:t>
            </a:r>
            <a:r>
              <a:rPr sz="919">
                <a:solidFill>
                  <a:srgbClr val="F8FAFC"/>
                </a:solidFill>
                <a:latin typeface="Arial"/>
              </a:rPr>
              <a:t>SIH25025  (or [ENTER_PS_ID_HERE])</a:t>
            </a:r>
          </a:p>
          <a:p>
            <a:pPr algn="l">
              <a:spcAft>
                <a:spcPts val="400"/>
              </a:spcAft>
            </a:pPr>
            <a:r>
              <a:rPr b="1" sz="900">
                <a:solidFill>
                  <a:srgbClr val="00D2FF"/>
                </a:solidFill>
                <a:latin typeface="Arial"/>
              </a:rPr>
              <a:t>• Problem Statement Title: </a:t>
            </a:r>
            <a:r>
              <a:rPr sz="900">
                <a:solidFill>
                  <a:srgbClr val="E2E8F0"/>
                </a:solidFill>
                <a:latin typeface="Arial"/>
              </a:rPr>
              <a:t>AI-Powered Smart Inspection &amp; Real-Time Monitoring System for Grantee Institutions &amp; Welfare Facilities</a:t>
            </a:r>
          </a:p>
          <a:p>
            <a:pPr algn="l">
              <a:spcAft>
                <a:spcPts val="400"/>
              </a:spcAft>
            </a:pPr>
            <a:r>
              <a:rPr b="1" sz="900">
                <a:solidFill>
                  <a:srgbClr val="00D2FF"/>
                </a:solidFill>
                <a:latin typeface="Arial"/>
              </a:rPr>
              <a:t>• Ministry / Organization: </a:t>
            </a:r>
            <a:r>
              <a:rPr sz="900">
                <a:solidFill>
                  <a:srgbClr val="E2E8F0"/>
                </a:solidFill>
                <a:latin typeface="Arial"/>
              </a:rPr>
              <a:t>Ministry of Social Justice &amp; Empowerment (DoSJE), Govt. of India</a:t>
            </a:r>
          </a:p>
          <a:p>
            <a:pPr algn="l">
              <a:spcAft>
                <a:spcPts val="400"/>
              </a:spcAft>
            </a:pPr>
            <a:r>
              <a:rPr b="1" sz="900">
                <a:solidFill>
                  <a:srgbClr val="00D2FF"/>
                </a:solidFill>
                <a:latin typeface="Arial"/>
              </a:rPr>
              <a:t>• Theme: </a:t>
            </a:r>
            <a:r>
              <a:rPr sz="900">
                <a:solidFill>
                  <a:srgbClr val="E2E8F0"/>
                </a:solidFill>
                <a:latin typeface="Arial"/>
              </a:rPr>
              <a:t>Smart Automation &amp; E-Governance</a:t>
            </a:r>
          </a:p>
          <a:p>
            <a:pPr algn="l">
              <a:spcAft>
                <a:spcPts val="400"/>
              </a:spcAft>
            </a:pPr>
            <a:r>
              <a:rPr b="1" sz="900">
                <a:solidFill>
                  <a:srgbClr val="10B981"/>
                </a:solidFill>
                <a:latin typeface="Arial"/>
              </a:rPr>
              <a:t>• PS Category: </a:t>
            </a:r>
            <a:r>
              <a:rPr sz="900">
                <a:solidFill>
                  <a:srgbClr val="E2E8F0"/>
                </a:solidFill>
                <a:latin typeface="Arial"/>
              </a:rPr>
              <a:t>Software Edition</a:t>
            </a:r>
          </a:p>
          <a:p>
            <a:pPr algn="l">
              <a:spcAft>
                <a:spcPts val="400"/>
              </a:spcAft>
            </a:pPr>
            <a:r>
              <a:rPr b="1" sz="919">
                <a:solidFill>
                  <a:srgbClr val="F43F5E"/>
                </a:solidFill>
                <a:latin typeface="Arial"/>
              </a:rPr>
              <a:t>• Team ID: </a:t>
            </a:r>
            <a:r>
              <a:rPr sz="919">
                <a:solidFill>
                  <a:srgbClr val="F8FAFC"/>
                </a:solidFill>
                <a:latin typeface="Arial"/>
              </a:rPr>
              <a:t>[ENTER_YOUR_TEAM_ID_HERE]</a:t>
            </a:r>
          </a:p>
          <a:p>
            <a:pPr algn="l">
              <a:spcAft>
                <a:spcPts val="400"/>
              </a:spcAft>
            </a:pPr>
            <a:r>
              <a:rPr b="1" sz="919">
                <a:solidFill>
                  <a:srgbClr val="00D2FF"/>
                </a:solidFill>
                <a:latin typeface="Arial"/>
              </a:rPr>
              <a:t>• Team Name: </a:t>
            </a:r>
            <a:r>
              <a:rPr sz="919">
                <a:solidFill>
                  <a:srgbClr val="F8FAFC"/>
                </a:solidFill>
                <a:latin typeface="Arial"/>
              </a:rPr>
              <a:t>NIYANTRA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425135" cy="164592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👥 Team &amp; Institutional Roster</a:t>
            </a:r>
          </a:p>
          <a:p>
            <a:pPr algn="l">
              <a:spcAft>
                <a:spcPts val="400"/>
              </a:spcAft>
            </a:pPr>
            <a:r>
              <a:rPr b="1" sz="950">
                <a:solidFill>
                  <a:srgbClr val="FBBF24"/>
                </a:solidFill>
              </a:rPr>
              <a:t>Team Leader: </a:t>
            </a:r>
            <a:r>
              <a:rPr sz="950">
                <a:solidFill>
                  <a:srgbClr val="F8FAFC"/>
                </a:solidFill>
              </a:rPr>
              <a:t>[ENTER_TEAM_LEADER_NAME]  •  Contact: [ENTER_EMAIL / PHONE]</a:t>
            </a:r>
          </a:p>
          <a:p>
            <a:pPr algn="l">
              <a:spcAft>
                <a:spcPts val="400"/>
              </a:spcAft>
            </a:pPr>
            <a:r>
              <a:rPr b="1" sz="900">
                <a:solidFill>
                  <a:srgbClr val="00D2FF"/>
                </a:solidFill>
              </a:rPr>
              <a:t>Core Engineers: </a:t>
            </a:r>
            <a:r>
              <a:rPr sz="900">
                <a:solidFill>
                  <a:srgbClr val="E2E8F0"/>
                </a:solidFill>
              </a:rPr>
              <a:t>[Member 1 (AI/ML)] • [Member 2 (Full-Stack)] • [Member 3 (Cloud/DevOps)]</a:t>
            </a:r>
          </a:p>
          <a:p>
            <a:pPr algn="l"/>
            <a:r>
              <a:rPr b="1" sz="900">
                <a:solidFill>
                  <a:srgbClr val="00D2FF"/>
                </a:solidFill>
              </a:rPr>
              <a:t>Specialists: </a:t>
            </a:r>
            <a:r>
              <a:rPr sz="900">
                <a:solidFill>
                  <a:srgbClr val="94A3B8"/>
                </a:solidFill>
              </a:rPr>
              <a:t>[Member 4 (GIS &amp; Security)] • [Member 5 (Forensics/QA)] • Mentor: [Mentor Name]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892040"/>
            <a:ext cx="5425135" cy="13258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🏆 Prototype Readiness &amp; Verified Proof</a:t>
            </a:r>
          </a:p>
          <a:p>
            <a:pPr algn="l">
              <a:spcAft>
                <a:spcPts val="400"/>
              </a:spcAft>
            </a:pPr>
            <a:r>
              <a:rPr b="1" sz="880">
                <a:solidFill>
                  <a:srgbClr val="10B981"/>
                </a:solidFill>
                <a:latin typeface="Arial"/>
              </a:rPr>
              <a:t>• 100% Functional MVP: </a:t>
            </a:r>
            <a:r>
              <a:rPr sz="880">
                <a:solidFill>
                  <a:srgbClr val="E2E8F0"/>
                </a:solidFill>
                <a:latin typeface="Arial"/>
              </a:rPr>
              <a:t>Next.js 16 + PWA + Supabase + MediaPipe FRS live with 5 specialized portals.</a:t>
            </a:r>
          </a:p>
          <a:p>
            <a:pPr algn="l">
              <a:spcAft>
                <a:spcPts val="400"/>
              </a:spcAft>
            </a:pPr>
            <a:r>
              <a:rPr b="1" sz="880">
                <a:solidFill>
                  <a:srgbClr val="10B981"/>
                </a:solidFill>
                <a:latin typeface="Arial"/>
              </a:rPr>
              <a:t>• 156/156 Tests Passing: </a:t>
            </a:r>
            <a:r>
              <a:rPr sz="880">
                <a:solidFill>
                  <a:srgbClr val="E2E8F0"/>
                </a:solidFill>
                <a:latin typeface="Arial"/>
              </a:rPr>
              <a:t>Zero regression Vitest test suite covering auth guards, geofence, and crypto hashing.</a:t>
            </a:r>
          </a:p>
          <a:p>
            <a:pPr algn="l">
              <a:spcAft>
                <a:spcPts val="400"/>
              </a:spcAft>
            </a:pPr>
            <a:r>
              <a:rPr b="1" sz="880">
                <a:solidFill>
                  <a:srgbClr val="10B981"/>
                </a:solidFill>
                <a:latin typeface="Arial"/>
              </a:rPr>
              <a:t>• BSA 2023 §63B Ready: </a:t>
            </a:r>
            <a:r>
              <a:rPr sz="880">
                <a:solidFill>
                  <a:srgbClr val="E2E8F0"/>
                </a:solidFill>
                <a:latin typeface="Arial"/>
              </a:rPr>
              <a:t>Generates court-admissible forensic certificates sealed with SHA-256 Merkle hashes.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Arial"/>
              </a:defRPr>
            </a:pPr>
            <a:r>
              <a:t>NIYANTRA (नियंत्रण) — National AI Inspection &amp; Governance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00D2FF"/>
                </a:solidFill>
                <a:latin typeface="Arial"/>
              </a:defRPr>
            </a:pPr>
            <a:r>
              <a:t>SLIDE 01 / 06 • TITLE PAGE | Ministry of Social Justice &amp; Empowerment (DoSJE)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rial"/>
              </a:defRPr>
            </a:pPr>
            <a:r>
              <a:t>PROPOSED SOLUTION &amp; WHY WE STAND OUT</a:t>
            </a:r>
          </a:p>
          <a:p>
            <a:pPr algn="l">
              <a:defRPr sz="1000">
                <a:solidFill>
                  <a:srgbClr val="94A3B8"/>
                </a:solidFill>
                <a:latin typeface="Arial"/>
              </a:defRPr>
            </a:pPr>
            <a:r>
              <a:t>Human-Centric E-Governance: Transforming Field Audits into Unannounced, Tamper-Proof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218895" cy="329184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2FF"/>
                </a:solidFill>
                <a:latin typeface="Arial"/>
              </a:defRPr>
            </a:pPr>
            <a:r>
              <a:t>SLIDE 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4754880" cy="32918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🚨 The Critical Ground Problem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43F5E"/>
                </a:solidFill>
                <a:latin typeface="Arial"/>
              </a:rPr>
              <a:t>• Massive Monitoring Deficit: </a:t>
            </a:r>
            <a:r>
              <a:rPr sz="850">
                <a:solidFill>
                  <a:srgbClr val="E2E8F0"/>
                </a:solidFill>
                <a:latin typeface="Arial"/>
              </a:rPr>
              <a:t>10,000+ Grantee NGOs &amp; welfare centers across 700+ districts lack real-time surveillance.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43F5E"/>
                </a:solidFill>
                <a:latin typeface="Arial"/>
              </a:rPr>
              <a:t>• Ghost Beneficiary Fraud: </a:t>
            </a:r>
            <a:r>
              <a:rPr sz="850">
                <a:solidFill>
                  <a:srgbClr val="E2E8F0"/>
                </a:solidFill>
                <a:latin typeface="Arial"/>
              </a:rPr>
              <a:t>Paper registers &amp; pre-announced audits permit ghost rosters and multi-crore grant leakages.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43F5E"/>
                </a:solidFill>
                <a:latin typeface="Arial"/>
              </a:rPr>
              <a:t>• 42-Day Administrative Lag: </a:t>
            </a:r>
            <a:r>
              <a:rPr sz="850">
                <a:solidFill>
                  <a:srgbClr val="E2E8F0"/>
                </a:solidFill>
                <a:latin typeface="Arial"/>
              </a:rPr>
              <a:t>Manual physical memos take weeks to escalate through district channels, stalling enforcement.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43F5E"/>
                </a:solidFill>
                <a:latin typeface="Arial"/>
              </a:rPr>
              <a:t>• Court Evidence Gaps: </a:t>
            </a:r>
            <a:r>
              <a:rPr sz="850">
                <a:solidFill>
                  <a:srgbClr val="E2E8F0"/>
                </a:solidFill>
                <a:latin typeface="Arial"/>
              </a:rPr>
              <a:t>Ordinary phone photos are routinely dismissed due to lack of statutory electronic admissibility.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51560"/>
            <a:ext cx="6156655" cy="32918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🏛️ Unified 5-Role Governance System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1. Central Apex Directorate: </a:t>
            </a:r>
            <a:r>
              <a:rPr sz="850">
                <a:solidFill>
                  <a:srgbClr val="E2E8F0"/>
                </a:solidFill>
                <a:latin typeface="Arial"/>
              </a:rPr>
              <a:t>Pan-India GIS surveillance, national heatmaps, macro AI anomaly feed, and policy SLA rules.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2. State Enforcement Directorate: </a:t>
            </a:r>
            <a:r>
              <a:rPr sz="850">
                <a:solidFill>
                  <a:srgbClr val="E2E8F0"/>
                </a:solidFill>
                <a:latin typeface="Arial"/>
              </a:rPr>
              <a:t>State-scoped oversight (e.g. AP, MH, DL), inter-district audit dispatch, and sanction processing.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3. PMU Inspection Squad (Mobile): </a:t>
            </a:r>
            <a:r>
              <a:rPr sz="850">
                <a:solidFill>
                  <a:srgbClr val="E2E8F0"/>
                </a:solidFill>
                <a:latin typeface="Arial"/>
              </a:rPr>
              <a:t>Unannounced 10-point field audits with mandatory live GPS geofence lock &amp; MediaPipe FRS.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4. Grantee Agency Portal: </a:t>
            </a:r>
            <a:r>
              <a:rPr sz="850">
                <a:solidFill>
                  <a:srgbClr val="E2E8F0"/>
                </a:solidFill>
                <a:latin typeface="Arial"/>
              </a:rPr>
              <a:t>Transparent beneficiary rosters, daily attendance logging, CCTV telemetry, &amp; notice responses.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5. System Control &amp; Forensic Vault: </a:t>
            </a:r>
            <a:r>
              <a:rPr sz="850">
                <a:solidFill>
                  <a:srgbClr val="E2E8F0"/>
                </a:solidFill>
                <a:latin typeface="Arial"/>
              </a:rPr>
              <a:t>Tamper-proof audit logs, cryptographic Section 63B certificate sealing, &amp; zero-trust RBAC+ABAC.</a:t>
            </a:r>
          </a:p>
        </p:txBody>
      </p:sp>
      <p:pic>
        <p:nvPicPr>
          <p:cNvPr id="8" name="Picture 7" descr="2 image for dosje official 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371600"/>
            <a:ext cx="502920" cy="274091"/>
          </a:xfrm>
          <a:prstGeom prst="rect">
            <a:avLst/>
          </a:prstGeom>
        </p:spPr>
      </p:pic>
      <p:pic>
        <p:nvPicPr>
          <p:cNvPr id="9" name="Picture 8" descr="5 imgage 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938528"/>
            <a:ext cx="502920" cy="274091"/>
          </a:xfrm>
          <a:prstGeom prst="rect">
            <a:avLst/>
          </a:prstGeom>
        </p:spPr>
      </p:pic>
      <p:pic>
        <p:nvPicPr>
          <p:cNvPr id="10" name="Picture 9" descr="3 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505456"/>
            <a:ext cx="502920" cy="274091"/>
          </a:xfrm>
          <a:prstGeom prst="rect">
            <a:avLst/>
          </a:prstGeom>
        </p:spPr>
      </p:pic>
      <p:pic>
        <p:nvPicPr>
          <p:cNvPr id="11" name="Picture 10" descr="4 image 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072384"/>
            <a:ext cx="502920" cy="274091"/>
          </a:xfrm>
          <a:prstGeom prst="rect">
            <a:avLst/>
          </a:prstGeom>
        </p:spPr>
      </p:pic>
      <p:pic>
        <p:nvPicPr>
          <p:cNvPr id="12" name="Picture 11" descr="6 image 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3639312"/>
            <a:ext cx="502920" cy="37113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4480560"/>
            <a:ext cx="2697480" cy="17830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rIns="146304" bIns="109728"/>
          <a:lstStyle/>
          <a:p>
            <a:pPr algn="l">
              <a:defRPr b="1" sz="950">
                <a:solidFill>
                  <a:srgbClr val="2563EB"/>
                </a:solidFill>
                <a:latin typeface="Arial"/>
              </a:defRPr>
            </a:pPr>
            <a:r>
              <a:t>🌐 Hybrid 2D/3D GIS</a:t>
            </a:r>
          </a:p>
          <a:p>
            <a:pPr algn="l">
              <a:spcBef>
                <a:spcPts val="400"/>
              </a:spcBef>
              <a:defRPr sz="819">
                <a:solidFill>
                  <a:srgbClr val="E2E8F0"/>
                </a:solidFill>
                <a:latin typeface="Arial"/>
              </a:defRPr>
            </a:pPr>
            <a:r>
              <a:t>2D operational MapLibre audits + 3D national terrain globe for instant spatial anomaly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4480560"/>
            <a:ext cx="2697480" cy="17830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rIns="146304" bIns="109728"/>
          <a:lstStyle/>
          <a:p>
            <a:pPr algn="l">
              <a:defRPr b="1" sz="950">
                <a:solidFill>
                  <a:srgbClr val="00D2FF"/>
                </a:solidFill>
                <a:latin typeface="Arial"/>
              </a:defRPr>
            </a:pPr>
            <a:r>
              <a:t>👤 Biometric FRS + GPS Lock</a:t>
            </a:r>
          </a:p>
          <a:p>
            <a:pPr algn="l">
              <a:spcBef>
                <a:spcPts val="400"/>
              </a:spcBef>
              <a:defRPr sz="819">
                <a:solidFill>
                  <a:srgbClr val="E2E8F0"/>
                </a:solidFill>
                <a:latin typeface="Arial"/>
              </a:defRPr>
            </a:pPr>
            <a:r>
              <a:t>On-device MediaPipe face mesh verification locked to hardware GPS (±4m) &amp; reverse geocoding.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4480560"/>
            <a:ext cx="2697480" cy="17830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rIns="146304" bIns="109728"/>
          <a:lstStyle/>
          <a:p>
            <a:pPr algn="l">
              <a:defRPr b="1" sz="950">
                <a:solidFill>
                  <a:srgbClr val="F43F5E"/>
                </a:solidFill>
                <a:latin typeface="Arial"/>
              </a:defRPr>
            </a:pPr>
            <a:r>
              <a:t>⚡ Zero-Trust AI Anomaly Engine</a:t>
            </a:r>
          </a:p>
          <a:p>
            <a:pPr algn="l">
              <a:spcBef>
                <a:spcPts val="400"/>
              </a:spcBef>
              <a:defRPr sz="819">
                <a:solidFill>
                  <a:srgbClr val="E2E8F0"/>
                </a:solidFill>
                <a:latin typeface="Arial"/>
              </a:defRPr>
            </a:pPr>
            <a:r>
              <a:t>Automated detection of CCTV blackout, DVR tampering, ghost attendance, &amp; coordinate spoofing.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4480560"/>
            <a:ext cx="2697480" cy="17830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rIns="146304" bIns="109728"/>
          <a:lstStyle/>
          <a:p>
            <a:pPr algn="l">
              <a:defRPr b="1" sz="950">
                <a:solidFill>
                  <a:srgbClr val="10B981"/>
                </a:solidFill>
                <a:latin typeface="Arial"/>
              </a:defRPr>
            </a:pPr>
            <a:r>
              <a:t>⏳ Automated 3-Tier SLA Escalator</a:t>
            </a:r>
          </a:p>
          <a:p>
            <a:pPr algn="l">
              <a:spcBef>
                <a:spcPts val="400"/>
              </a:spcBef>
              <a:defRPr sz="819">
                <a:solidFill>
                  <a:srgbClr val="E2E8F0"/>
                </a:solidFill>
                <a:latin typeface="Arial"/>
              </a:defRPr>
            </a:pPr>
            <a:r>
              <a:t>Time-locked auto-escalation: District (L1) → State (L2) → Central Command (L3) with audit trail.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Arial"/>
              </a:defRPr>
            </a:pPr>
            <a:r>
              <a:t>NIYANTRA (नियंत्रण) — National AI Inspection &amp; Governance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00D2FF"/>
                </a:solidFill>
                <a:latin typeface="Arial"/>
              </a:defRPr>
            </a:pPr>
            <a:r>
              <a:t>SLIDE 02 / 06 • PROPOSED SOLUTION | Ministry of Social Justice &amp; Empowerment (DoSJE)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rial"/>
              </a:defRPr>
            </a:pPr>
            <a:r>
              <a:t>TECHNICAL APPROACH &amp; SYSTEM ARCHITECTURE</a:t>
            </a:r>
          </a:p>
          <a:p>
            <a:pPr algn="l">
              <a:defRPr sz="1000">
                <a:solidFill>
                  <a:srgbClr val="94A3B8"/>
                </a:solidFill>
                <a:latin typeface="Arial"/>
              </a:defRPr>
            </a:pPr>
            <a:r>
              <a:t>Robust, Cloud-Native, Offline-Capable Full Stack Engineering for Scalable Public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218895" cy="329184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2FF"/>
                </a:solidFill>
                <a:latin typeface="Arial"/>
              </a:defRPr>
            </a:pPr>
            <a:r>
              <a:t>SLIDE 03 / 06</a:t>
            </a:r>
          </a:p>
        </p:txBody>
      </p:sp>
      <p:pic>
        <p:nvPicPr>
          <p:cNvPr id="6" name="Picture 5" descr="nirnay_system_architecture_si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852160" cy="3266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051560"/>
            <a:ext cx="5059375" cy="32918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🔄 End-to-End Operational Workflow Pipeline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Step 1: Telemetry Influx: </a:t>
            </a:r>
            <a:r>
              <a:rPr sz="850">
                <a:solidFill>
                  <a:srgbClr val="E2E8F0"/>
                </a:solidFill>
                <a:latin typeface="Arial"/>
              </a:rPr>
              <a:t>Grantee daily attendance logs, IP-CCTV RTSP heartbeat pings, &amp; citizen grievance reports ingested asynchronously.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59E0B"/>
                </a:solidFill>
                <a:latin typeface="Arial"/>
              </a:rPr>
              <a:t>• Step 2: AI Anomaly Engine: </a:t>
            </a:r>
            <a:r>
              <a:rPr sz="850">
                <a:solidFill>
                  <a:srgbClr val="E2E8F0"/>
                </a:solidFill>
                <a:latin typeface="Arial"/>
              </a:rPr>
              <a:t>Continuous stream inspection computes Risk Index; flags ghost beneficiaries, CCTV feed freezing, or spatial divergence.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43F5E"/>
                </a:solidFill>
                <a:latin typeface="Arial"/>
              </a:rPr>
              <a:t>• Step 3: Surprise Audit Trigger: </a:t>
            </a:r>
            <a:r>
              <a:rPr sz="850">
                <a:solidFill>
                  <a:srgbClr val="E2E8F0"/>
                </a:solidFill>
                <a:latin typeface="Arial"/>
              </a:rPr>
              <a:t>Unannounced inspection squad dispatched via PWA mobile app with dynamic offline-first checklist cache (Dexie.js).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Step 4: Geofence &amp; FRS Lock: </a:t>
            </a:r>
            <a:r>
              <a:rPr sz="850">
                <a:solidFill>
                  <a:srgbClr val="E2E8F0"/>
                </a:solidFill>
                <a:latin typeface="Arial"/>
              </a:rPr>
              <a:t>Inspector face verified on-device via MediaPipe; GPS coordinates validated against ISRO Bhuvan cadastral polygon.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10B981"/>
                </a:solidFill>
                <a:latin typeface="Arial"/>
              </a:rPr>
              <a:t>• Step 5: Section 63B Forensic Seal: </a:t>
            </a:r>
            <a:r>
              <a:rPr sz="850">
                <a:solidFill>
                  <a:srgbClr val="E2E8F0"/>
                </a:solidFill>
                <a:latin typeface="Arial"/>
              </a:rPr>
              <a:t>All audio, photo, and observation records hashed with SHA-256 and sealed into BSA 2023 §63B Admissibility Certificates.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11094415" cy="17830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🛠️ Production Tech Stack &amp; Security Standards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Client &amp; Presentation: </a:t>
            </a:r>
            <a:r>
              <a:rPr sz="850">
                <a:solidFill>
                  <a:srgbClr val="E2E8F0"/>
                </a:solidFill>
                <a:latin typeface="Arial"/>
              </a:rPr>
              <a:t>Next.js 16 (App Router) • React 19 • Tailwind CSS • Framer Motion • Lucide Icons • WebRTC Live Audio/Video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BBF24"/>
                </a:solidFill>
                <a:latin typeface="Arial"/>
              </a:rPr>
              <a:t>• AI &amp; Computer Vision: </a:t>
            </a:r>
            <a:r>
              <a:rPr sz="850">
                <a:solidFill>
                  <a:srgbClr val="E2E8F0"/>
                </a:solidFill>
                <a:latin typeface="Arial"/>
              </a:rPr>
              <a:t>MediaPipe Face Mesh (Edge Biometrics) • WebAssembly ML • ISRO Bhuvan Spatial Geocoding • MapLibre GL 2D/3D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8FAFC"/>
                </a:solidFill>
                <a:latin typeface="Arial"/>
              </a:rPr>
              <a:t>• Backend &amp; Storage: </a:t>
            </a:r>
            <a:r>
              <a:rPr sz="850">
                <a:solidFill>
                  <a:srgbClr val="E2E8F0"/>
                </a:solidFill>
                <a:latin typeface="Arial"/>
              </a:rPr>
              <a:t>Supabase PostgreSQL (Row-Level Security) • MongoDB GridFS (Blob Storage) • Dexie.js (Offline Cache) • Docker Microservices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10B981"/>
                </a:solidFill>
                <a:latin typeface="Arial"/>
              </a:rPr>
              <a:t>• Security &amp; Statutory: </a:t>
            </a:r>
            <a:r>
              <a:rPr sz="850">
                <a:solidFill>
                  <a:srgbClr val="E2E8F0"/>
                </a:solidFill>
                <a:latin typeface="Arial"/>
              </a:rPr>
              <a:t>SHA-256 Merkle Evidence Locks • BSA 2023 §63B Certificate Sealing • DPDP Act 2023 Data Minimization • JWT RBAC+ABAC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Arial"/>
              </a:defRPr>
            </a:pPr>
            <a:r>
              <a:t>NIYANTRA (नियंत्रण) — National AI Inspection &amp; Governance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00D2FF"/>
                </a:solidFill>
                <a:latin typeface="Arial"/>
              </a:defRPr>
            </a:pPr>
            <a:r>
              <a:t>SLIDE 03 / 06 • TECHNICAL APPROACH | Ministry of Social Justice &amp; Empowerment (DoSJE)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rial"/>
              </a:defRPr>
            </a:pPr>
            <a:r>
              <a:t>FEASIBILITY AND VIABILITY ANALYSIS</a:t>
            </a:r>
          </a:p>
          <a:p>
            <a:pPr algn="l">
              <a:defRPr sz="1000">
                <a:solidFill>
                  <a:srgbClr val="94A3B8"/>
                </a:solidFill>
                <a:latin typeface="Arial"/>
              </a:defRPr>
            </a:pPr>
            <a:r>
              <a:t>Economically Sustainable, Operationally Robust, Legally Fortified, and Deployable Nationwide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218895" cy="329184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2FF"/>
                </a:solidFill>
                <a:latin typeface="Arial"/>
              </a:defRPr>
            </a:pPr>
            <a:r>
              <a:t>SLIDE 04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2697480" cy="22402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⚙️ Technical Feasibility</a:t>
            </a:r>
          </a:p>
          <a:p>
            <a:pPr algn="l">
              <a:spcBef>
                <a:spcPts val="400"/>
              </a:spcBef>
              <a:defRPr sz="819">
                <a:solidFill>
                  <a:srgbClr val="E2E8F0"/>
                </a:solidFill>
                <a:latin typeface="Arial"/>
              </a:defRPr>
            </a:pPr>
            <a:r>
              <a:t>• Built on cross-platform Web/PWA standards.</a:t>
            </a:r>
            <a:br/>
            <a:r>
              <a:t>• Zero costly biometric hardware needed; runs on any standard Android/iOS smartphone.</a:t>
            </a:r>
            <a:br/>
            <a:r>
              <a:t>• Offline-first SQLite/Dexie sync ensures flawless operation in zero-network remote rural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051560"/>
            <a:ext cx="2697480" cy="22402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🏛️ Operational Feasibility</a:t>
            </a:r>
          </a:p>
          <a:p>
            <a:pPr algn="l">
              <a:spcBef>
                <a:spcPts val="400"/>
              </a:spcBef>
              <a:defRPr sz="819">
                <a:solidFill>
                  <a:srgbClr val="E2E8F0"/>
                </a:solidFill>
                <a:latin typeface="Arial"/>
              </a:defRPr>
            </a:pPr>
            <a:r>
              <a:t>• Complies strictly with UX4G (Govt of India Design Guidelines) for intuitive usage.</a:t>
            </a:r>
            <a:br/>
            <a:r>
              <a:t>• Zero specialized training required for field officers.</a:t>
            </a:r>
            <a:br/>
            <a:r>
              <a:t>• Seamless migration from legacy NGO portals via REST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051560"/>
            <a:ext cx="2697480" cy="22402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💰 Economic Viability</a:t>
            </a:r>
          </a:p>
          <a:p>
            <a:pPr algn="l">
              <a:spcBef>
                <a:spcPts val="400"/>
              </a:spcBef>
              <a:defRPr sz="819">
                <a:solidFill>
                  <a:srgbClr val="E2E8F0"/>
                </a:solidFill>
                <a:latin typeface="Arial"/>
              </a:defRPr>
            </a:pPr>
            <a:r>
              <a:t>• Open-source core stack cuts licensing costs by 85% compared to proprietary ERPs.</a:t>
            </a:r>
            <a:br/>
            <a:r>
              <a:t>• Estimated ₹350+ Crore annual taxpayer savings by eliminating ghost beneficiaries.</a:t>
            </a:r>
            <a:br/>
            <a:r>
              <a:t>• 38x Projected Return on Investment (ROI) over 3 years.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7696" y="1051560"/>
            <a:ext cx="2697480" cy="22402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⚖️ Legal &amp; Policy Viability</a:t>
            </a:r>
          </a:p>
          <a:p>
            <a:pPr algn="l">
              <a:spcBef>
                <a:spcPts val="400"/>
              </a:spcBef>
              <a:defRPr sz="819">
                <a:solidFill>
                  <a:srgbClr val="E2E8F0"/>
                </a:solidFill>
                <a:latin typeface="Arial"/>
              </a:defRPr>
            </a:pPr>
            <a:r>
              <a:t>• Complete compliance with Section 63B of Bharatiya Sakshya Adhiniyam (BSA) 2023.</a:t>
            </a:r>
            <a:br/>
            <a:r>
              <a:t>• DPDP Act 2023 compliant data minimization: zero raw biometric storage, only SHA-256 hashes.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474720"/>
          <a:ext cx="11094415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5608015"/>
              </a:tblGrid>
              <a:tr h="557784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Risk / Operational Challenge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Impact Severity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NIYANTRA Engineered Mitigation Strategy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Rural Connectivity Blackouts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HIGH (Remote Areas)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Offline-first PWA caching with cryptographic local queue and auto-sync with SHA-256 verification on reconnection.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GPS Coordinates &amp; Device Mocking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CRITICAL (Audit Integrity)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Multi-source sensor fusion: Hardware GPS + Cell Tower triangulation + ISRO Bhuvan cadastral polygon match.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CCTV Stream Looping &amp; DVR Tampering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CRITICAL (Surveillance)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Automated RTSP video frame-hash continuity monitor triggers instant 4-Hour Critical SLA breach notice on freezing.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Field Team Bribery &amp; Collision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HIGH (Governance)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Centralized randomized dynamic dispatch: inspection officer assigned morning of audit; geo-fence unlocks checklist only within 50m.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Arial"/>
              </a:defRPr>
            </a:pPr>
            <a:r>
              <a:t>NIYANTRA (नियंत्रण) — National AI Inspection &amp; Governance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00D2FF"/>
                </a:solidFill>
                <a:latin typeface="Arial"/>
              </a:defRPr>
            </a:pPr>
            <a:r>
              <a:t>SLIDE 04 / 06 • FEASIBILITY &amp; VIABILITY | Ministry of Social Justice &amp; Empowerment (DoSJE)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rial"/>
              </a:defRPr>
            </a:pPr>
            <a:r>
              <a:t>IMPACTS AND BENEFITS (HUMAN-CENTRIC GOVERNANCE)</a:t>
            </a:r>
          </a:p>
          <a:p>
            <a:pPr algn="l">
              <a:defRPr sz="1000">
                <a:solidFill>
                  <a:srgbClr val="94A3B8"/>
                </a:solidFill>
                <a:latin typeface="Arial"/>
              </a:defRPr>
            </a:pPr>
            <a:r>
              <a:t>Direct Empowerment of Vulnerable Citizens, Zero Welfare Leakages &amp; High Accountability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218895" cy="329184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2FF"/>
                </a:solidFill>
                <a:latin typeface="Arial"/>
              </a:defRPr>
            </a:pPr>
            <a:r>
              <a:t>SLIDE 05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566160" cy="12344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 rIns="182880" bIns="109728"/>
          <a:lstStyle/>
          <a:p>
            <a:pPr algn="l">
              <a:defRPr sz="2100" b="1">
                <a:solidFill>
                  <a:srgbClr val="10B981"/>
                </a:solidFill>
                <a:latin typeface="Arial"/>
              </a:defRPr>
            </a:pPr>
            <a:r>
              <a:t>₹350+ Crores</a:t>
            </a:r>
          </a:p>
          <a:p>
            <a:pPr algn="l">
              <a:defRPr sz="950" b="1">
                <a:solidFill>
                  <a:srgbClr val="F8FAFC"/>
                </a:solidFill>
              </a:defRPr>
            </a:pPr>
            <a:r>
              <a:t>Annual Taxpayer Savings</a:t>
            </a:r>
          </a:p>
          <a:p>
            <a:pPr algn="l">
              <a:defRPr sz="800">
                <a:solidFill>
                  <a:srgbClr val="94A3B8"/>
                </a:solidFill>
              </a:defRPr>
            </a:pPr>
            <a:r>
              <a:t>By wiping out ghost beneficiaries &amp; fake institutional grant disbursements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051560"/>
            <a:ext cx="3566160" cy="12344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 rIns="182880" bIns="109728"/>
          <a:lstStyle/>
          <a:p>
            <a:pPr algn="l">
              <a:defRPr sz="2100" b="1">
                <a:solidFill>
                  <a:srgbClr val="00D2FF"/>
                </a:solidFill>
                <a:latin typeface="Arial"/>
              </a:defRPr>
            </a:pPr>
            <a:r>
              <a:t>42 Days → 4 Hours</a:t>
            </a:r>
          </a:p>
          <a:p>
            <a:pPr algn="l">
              <a:defRPr sz="950" b="1">
                <a:solidFill>
                  <a:srgbClr val="F8FAFC"/>
                </a:solidFill>
              </a:defRPr>
            </a:pPr>
            <a:r>
              <a:t>SLA Resolution Turnaround</a:t>
            </a:r>
          </a:p>
          <a:p>
            <a:pPr algn="l">
              <a:defRPr sz="800">
                <a:solidFill>
                  <a:srgbClr val="94A3B8"/>
                </a:solidFill>
              </a:defRPr>
            </a:pPr>
            <a:r>
              <a:t>From manual paper memos to automated 3-tier digital escalation clock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051560"/>
            <a:ext cx="3566160" cy="12344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9728" rIns="182880" bIns="109728"/>
          <a:lstStyle/>
          <a:p>
            <a:pPr algn="l">
              <a:defRPr sz="2100" b="1">
                <a:solidFill>
                  <a:srgbClr val="FBBF24"/>
                </a:solidFill>
                <a:latin typeface="Arial"/>
              </a:defRPr>
            </a:pPr>
            <a:r>
              <a:t>100% Admissible</a:t>
            </a:r>
          </a:p>
          <a:p>
            <a:pPr algn="l">
              <a:defRPr sz="950" b="1">
                <a:solidFill>
                  <a:srgbClr val="F8FAFC"/>
                </a:solidFill>
              </a:defRPr>
            </a:pPr>
            <a:r>
              <a:t>Forensic Evidence Rate</a:t>
            </a:r>
          </a:p>
          <a:p>
            <a:pPr algn="l">
              <a:defRPr sz="800">
                <a:solidFill>
                  <a:srgbClr val="94A3B8"/>
                </a:solidFill>
              </a:defRPr>
            </a:pPr>
            <a:r>
              <a:t>Under Bharatiya Sakshya Adhiniyam 2023 §63B with cryptographic SHA-256 seal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23160"/>
          <a:ext cx="1109441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4144975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Key Evaluation Dimension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0D2FF"/>
                          </a:solidFill>
                          <a:latin typeface="Arial"/>
                        </a:defRPr>
                      </a:pPr>
                      <a:r>
                        <a:t>Legacy Inspection System (Manual / Paper-Based)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NIYANTRA Next-Gen Platform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Inspection Scheduling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Scheduled / Announced (Institutions stage false attendance)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100% Unannounced randomized dispatch triggered by AI risk scores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Beneficiary Verification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Vulnerable to impersonation, paper registers, proxy sign-ins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Live on-device MediaPipe FRS verification locked to 50m geofence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Evidence Admissibility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Unauthenticated phone photos; easily challenged in high courts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SHA-256 Merkle hashed with automated BSA 2023 §63B Certificate</a:t>
                      </a:r>
                    </a:p>
                  </a:txBody>
                  <a:tcPr anchor="ctr">
                    <a:solidFill>
                      <a:srgbClr val="0F1A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SLA Breach Enforcement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Bureaucratic paper delays, files sitting on desks indefinitely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Automated 3-Tier clock: auto-escalates to State &amp; Central Admins</a:t>
                      </a:r>
                    </a:p>
                  </a:txBody>
                  <a:tcPr anchor="ctr">
                    <a:solidFill>
                      <a:srgbClr val="0B132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074920"/>
            <a:ext cx="11094415" cy="123444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❤️ Human &amp; Social Welfare Impact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FBBF24"/>
                </a:solidFill>
                <a:latin typeface="Arial"/>
              </a:rPr>
              <a:t>• Protecting the Most Vulnerable: </a:t>
            </a:r>
            <a:r>
              <a:rPr sz="819">
                <a:solidFill>
                  <a:srgbClr val="E2E8F0"/>
                </a:solidFill>
                <a:latin typeface="Arial"/>
              </a:rPr>
              <a:t>Guarantees elderly citizens, differently-abled youth, and de-addiction inmates receive authentic nutrition, healthcare, and therapy.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00D2FF"/>
                </a:solidFill>
                <a:latin typeface="Arial"/>
              </a:rPr>
              <a:t>• Empowering Honest Inspectors: </a:t>
            </a:r>
            <a:r>
              <a:rPr sz="819">
                <a:solidFill>
                  <a:srgbClr val="E2E8F0"/>
                </a:solidFill>
                <a:latin typeface="Arial"/>
              </a:rPr>
              <a:t>Shields field officers from local political pressure through immutable cryptographic proof and centralized unannounced dispatch.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10B981"/>
                </a:solidFill>
                <a:latin typeface="Arial"/>
              </a:rPr>
              <a:t>• Taxpayer Trust Restored: </a:t>
            </a:r>
            <a:r>
              <a:rPr sz="819">
                <a:solidFill>
                  <a:srgbClr val="E2E8F0"/>
                </a:solidFill>
                <a:latin typeface="Arial"/>
              </a:rPr>
              <a:t>Complete transparency in public grant-in-aid distribution directly aligned with Prime Minister's vision of Digital India &amp; Antyodaya.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Arial"/>
              </a:defRPr>
            </a:pPr>
            <a:r>
              <a:t>NIYANTRA (नियंत्रण) — National AI Inspection &amp; Governance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00D2FF"/>
                </a:solidFill>
                <a:latin typeface="Arial"/>
              </a:defRPr>
            </a:pPr>
            <a:r>
              <a:t>SLIDE 05 / 06 • IMPACTS AND BENEFITS | Ministry of Social Justice &amp; Empowerment (DoSJE)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rial"/>
              </a:defRPr>
            </a:pPr>
            <a:r>
              <a:t>RESEARCH, REFERENCES &amp; JURY DEFENSE</a:t>
            </a:r>
          </a:p>
          <a:p>
            <a:pPr algn="l">
              <a:defRPr sz="1000">
                <a:solidFill>
                  <a:srgbClr val="94A3B8"/>
                </a:solidFill>
                <a:latin typeface="Arial"/>
              </a:defRPr>
            </a:pPr>
            <a:r>
              <a:t>Evidence-Backed Design Rooted in Statutory Law, Academic Standards &amp; Production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218895" cy="329184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2FF"/>
                </a:solidFill>
                <a:latin typeface="Arial"/>
              </a:defRPr>
            </a:pPr>
            <a:r>
              <a:t>SLIDE 06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38404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🔬 Research Methodology &amp; Evolution Flow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00D2FF"/>
                </a:solidFill>
                <a:latin typeface="Arial"/>
              </a:rPr>
              <a:t>• Stage 1: Ground Problem Identification: </a:t>
            </a:r>
            <a:r>
              <a:rPr sz="819">
                <a:solidFill>
                  <a:srgbClr val="E2E8F0"/>
                </a:solidFill>
                <a:latin typeface="Arial"/>
              </a:rPr>
              <a:t>Reviewed CAG Performance Audit Reports on Grantee NGO fund diversions across 14 Indian states.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00D2FF"/>
                </a:solidFill>
                <a:latin typeface="Arial"/>
              </a:rPr>
              <a:t>• Stage 2: Statutory Law Alignment: </a:t>
            </a:r>
            <a:r>
              <a:rPr sz="819">
                <a:solidFill>
                  <a:srgbClr val="E2E8F0"/>
                </a:solidFill>
                <a:latin typeface="Arial"/>
              </a:rPr>
              <a:t>Analyzed the Indian Evidence Act transition to Bharatiya Sakshya Adhiniyam 2023 (§63B) and DPDP Act 2023.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00D2FF"/>
                </a:solidFill>
                <a:latin typeface="Arial"/>
              </a:rPr>
              <a:t>• Stage 3: Architectural Benchmarking: </a:t>
            </a:r>
            <a:r>
              <a:rPr sz="819">
                <a:solidFill>
                  <a:srgbClr val="E2E8F0"/>
                </a:solidFill>
                <a:latin typeface="Arial"/>
              </a:rPr>
              <a:t>Studied existing surveillance architectures (CCTNS, PRAGATI, PM-GatiShakti) to identify critical gaps in offline field audits.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00D2FF"/>
                </a:solidFill>
                <a:latin typeface="Arial"/>
              </a:rPr>
              <a:t>• Stage 4: Edge-AI &amp; Vision Exploration: </a:t>
            </a:r>
            <a:r>
              <a:rPr sz="819">
                <a:solidFill>
                  <a:srgbClr val="E2E8F0"/>
                </a:solidFill>
                <a:latin typeface="Arial"/>
              </a:rPr>
              <a:t>Benchmarked MediaPipe Face Mesh vs traditional OpenCV dlib; achieved 94.8% accuracy at sub-350ms on mobile edge.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00D2FF"/>
                </a:solidFill>
                <a:latin typeface="Arial"/>
              </a:rPr>
              <a:t>• Stage 5: High-Fidelity Prototype Sprint: </a:t>
            </a:r>
            <a:r>
              <a:rPr sz="819">
                <a:solidFill>
                  <a:srgbClr val="E2E8F0"/>
                </a:solidFill>
                <a:latin typeface="Arial"/>
              </a:rPr>
              <a:t>Engineered 5 Next.js portals with Supabase RLS and automated Vitest regression suites (156 passing tests).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00D2FF"/>
                </a:solidFill>
                <a:latin typeface="Arial"/>
              </a:rPr>
              <a:t>• Stage 6: Field Validation &amp; Simulation: </a:t>
            </a:r>
            <a:r>
              <a:rPr sz="819">
                <a:solidFill>
                  <a:srgbClr val="E2E8F0"/>
                </a:solidFill>
                <a:latin typeface="Arial"/>
              </a:rPr>
              <a:t>Simulated real-world CCTV blackout and geofence offset scenarios with instant SLA escalation.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051560"/>
            <a:ext cx="5608015" cy="384048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📚 Statutory, Academic &amp; Technical Citations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FBBF24"/>
                </a:solidFill>
                <a:latin typeface="Arial"/>
              </a:rPr>
              <a:t>• 1. Bharatiya Sakshya Adhiniyam (BSA) 2023, §63B: </a:t>
            </a:r>
            <a:r>
              <a:rPr sz="819">
                <a:solidFill>
                  <a:srgbClr val="E2E8F0"/>
                </a:solidFill>
                <a:latin typeface="Arial"/>
              </a:rPr>
              <a:t>Legal admissibility standard for electronic court evidence and mandatory device certification. Gazette of India, Dec 2023.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FBBF24"/>
                </a:solidFill>
                <a:latin typeface="Arial"/>
              </a:rPr>
              <a:t>• 2. Digital Personal Data Protection (DPDP) Act 2023: </a:t>
            </a:r>
            <a:r>
              <a:rPr sz="819">
                <a:solidFill>
                  <a:srgbClr val="E2E8F0"/>
                </a:solidFill>
                <a:latin typeface="Arial"/>
              </a:rPr>
              <a:t>Compliance with purpose specification, zero biometric feature persistence, and edge data minimization. Ministry of Electronics &amp; IT.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F8FAFC"/>
                </a:solidFill>
                <a:latin typeface="Arial"/>
              </a:rPr>
              <a:t>• 3. CAG Performance Audit on Welfare Grants: </a:t>
            </a:r>
            <a:r>
              <a:rPr sz="819">
                <a:solidFill>
                  <a:srgbClr val="E2E8F0"/>
                </a:solidFill>
                <a:latin typeface="Arial"/>
              </a:rPr>
              <a:t>Comptroller &amp; Auditor General of India — 'Audit Findings on Grant-in-Aid to Voluntary Organizations for SC/OBC Welfare' (2022-2024).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F8FAFC"/>
                </a:solidFill>
                <a:latin typeface="Arial"/>
              </a:rPr>
              <a:t>• 4. IEEE 2024 Conference on E-Governance: </a:t>
            </a:r>
            <a:r>
              <a:rPr sz="819">
                <a:solidFill>
                  <a:srgbClr val="E2E8F0"/>
                </a:solidFill>
                <a:latin typeface="Arial"/>
              </a:rPr>
              <a:t>‘Zero-Trust Edge Biometric Telemetry &amp; Anti-Spoofing Protocols for Public Welfare Disbursements’. IEEE Access, Vol. 12, pp. 4120-4131.</a:t>
            </a:r>
          </a:p>
          <a:p>
            <a:pPr algn="l">
              <a:spcAft>
                <a:spcPts val="400"/>
              </a:spcAft>
            </a:pPr>
            <a:r>
              <a:rPr b="1" sz="819">
                <a:solidFill>
                  <a:srgbClr val="F8FAFC"/>
                </a:solidFill>
                <a:latin typeface="Arial"/>
              </a:rPr>
              <a:t>• 5. ISRO Bhuvan Spatial Data Framework: </a:t>
            </a:r>
            <a:r>
              <a:rPr sz="819">
                <a:solidFill>
                  <a:srgbClr val="E2E8F0"/>
                </a:solidFill>
                <a:latin typeface="Arial"/>
              </a:rPr>
              <a:t>National Remote Sensing Centre (NRSC) guidelines for GIS polygon boundary validation and cadastral overlays.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094415" cy="1280160"/>
          </a:xfrm>
          <a:prstGeom prst="roundRect">
            <a:avLst/>
          </a:prstGeom>
          <a:solidFill>
            <a:srgbClr val="0B1329"/>
          </a:solidFill>
          <a:ln w="12700"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46304" rIns="182880" bIns="109728"/>
          <a:lstStyle/>
          <a:p>
            <a:pPr algn="l">
              <a:defRPr sz="1150" b="1">
                <a:solidFill>
                  <a:srgbClr val="00D2FF"/>
                </a:solidFill>
                <a:latin typeface="Arial"/>
              </a:defRPr>
            </a:pPr>
            <a:r>
              <a:t>🔗 Live Pitch Resources &amp; Repository Access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00D2FF"/>
                </a:solidFill>
                <a:latin typeface="Arial"/>
              </a:rPr>
              <a:t>• Live Interactive Web Deck: </a:t>
            </a:r>
            <a:r>
              <a:rPr sz="850">
                <a:solidFill>
                  <a:srgbClr val="E2E8F0"/>
                </a:solidFill>
                <a:latin typeface="Arial"/>
              </a:rPr>
              <a:t>http://localhost:3000/presentation  (Standalone: insight-platform/public/NIRNAY_SIH2025_Presentation.html)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10B981"/>
                </a:solidFill>
                <a:latin typeface="Arial"/>
              </a:rPr>
              <a:t>• Working Application MVP: </a:t>
            </a:r>
            <a:r>
              <a:rPr sz="850">
                <a:solidFill>
                  <a:srgbClr val="E2E8F0"/>
                </a:solidFill>
                <a:latin typeface="Arial"/>
              </a:rPr>
              <a:t>http://localhost:3000/dashboard  (5 Portals: Central Command, State Directorate, PMU Squad, NGO, Admin)</a:t>
            </a:r>
          </a:p>
          <a:p>
            <a:pPr algn="l">
              <a:spcAft>
                <a:spcPts val="400"/>
              </a:spcAft>
            </a:pPr>
            <a:r>
              <a:rPr b="1" sz="850">
                <a:solidFill>
                  <a:srgbClr val="FBBF24"/>
                </a:solidFill>
                <a:latin typeface="Arial"/>
              </a:rPr>
              <a:t>• Source Code &amp; Test Suites: </a:t>
            </a:r>
            <a:r>
              <a:rPr sz="850">
                <a:solidFill>
                  <a:srgbClr val="E2E8F0"/>
                </a:solidFill>
                <a:latin typeface="Arial"/>
              </a:rPr>
              <a:t>GitHub: [ENTER_GITHUB_REPOSITORY_URL]  • 156/156 Passing Vitest Unit Tests • Supabase Migrations • Docker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1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Arial"/>
              </a:defRPr>
            </a:pPr>
            <a:r>
              <a:t>NIYANTRA (नियंत्रण) — National AI Inspection &amp; Governance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00D2FF"/>
                </a:solidFill>
                <a:latin typeface="Arial"/>
              </a:defRPr>
            </a:pPr>
            <a:r>
              <a:t>SLIDE 06 / 06 • RESEARCH &amp; REFERENCES | Ministry of Social Justice &amp; Empowerment (DoSJE)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